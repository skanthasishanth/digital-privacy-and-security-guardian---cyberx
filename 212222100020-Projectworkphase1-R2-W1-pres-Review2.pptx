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F095FD-EDBD-4191-B52B-8100216E512F}">
  <a:tblStyle styleId="{A0F095FD-EDBD-4191-B52B-8100216E512F}" styleName="Table_0"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68400" y="708025"/>
            <a:ext cx="4535488" cy="34020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915294" y="4343703"/>
            <a:ext cx="5027414" cy="409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4825" lIns="89675" spcFirstLastPara="1" rIns="89675" wrap="square" tIns="44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6da2bd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ab6da2bd05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b6da2bd0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ab6da2bd05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b6da2bd0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ab6da2bd05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1371600" y="6687979"/>
            <a:ext cx="59848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SEC-  DEPARTMENT OF CSE(CS)– 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- 1 –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PROJECTWORKPHASE1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slide# 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457200" y="274638"/>
            <a:ext cx="8229600" cy="584200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457200" y="1027113"/>
            <a:ext cx="8229600" cy="540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ELCOT\Desktop\Saveetha Logo.png" id="19" name="Google Shape;19;p2"/>
          <p:cNvPicPr preferRelativeResize="0"/>
          <p:nvPr/>
        </p:nvPicPr>
        <p:blipFill rotWithShape="1">
          <a:blip r:embed="rId2">
            <a:alphaModFix/>
          </a:blip>
          <a:srcRect b="28149" l="0" r="26620" t="0"/>
          <a:stretch/>
        </p:blipFill>
        <p:spPr>
          <a:xfrm>
            <a:off x="6588225" y="2899"/>
            <a:ext cx="2570075" cy="2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Relationship Id="rId4" Type="http://schemas.openxmlformats.org/officeDocument/2006/relationships/image" Target="../media/image1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developer.android.com/design" TargetMode="External"/><Relationship Id="rId4" Type="http://schemas.openxmlformats.org/officeDocument/2006/relationships/hyperlink" Target="https://www.developer.android.com/design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10"/>
              <a:buFont typeface="Arial"/>
              <a:buNone/>
            </a:pPr>
            <a:r>
              <a:rPr lang="en-US" sz="350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Work </a:t>
            </a:r>
            <a:r>
              <a:rPr lang="en-US" sz="350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1 </a:t>
            </a:r>
            <a:r>
              <a:rPr b="0" i="0" lang="en-US" sz="35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(19AI70</a:t>
            </a:r>
            <a:r>
              <a:rPr lang="en-US" sz="350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5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– Review 2</a:t>
            </a:r>
            <a:endParaRPr b="0" i="0" sz="35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28600" y="1181100"/>
            <a:ext cx="8610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Privacy &amp; Security Guardian (DPSG) - CyberX </a:t>
            </a:r>
            <a:br>
              <a:rPr b="0" i="0" lang="en-US" sz="3200" u="none" cap="none" strike="noStrike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Kantha Sishanth S (212222100020)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2022-2026 Batch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TEAM NO: 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Rajesh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Department of CSE(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619" lvl="1" marL="74295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-304800" y="5486400"/>
            <a:ext cx="9829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ENGINEERING(CS)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SAVEETHA ENGINEERING COLLEGE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(Autonomous Institution – UGC, Govt. of India)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(Affiliated to Anna University, Approved by AICTE - Accredited by NBA &amp; NAAC – ‘A’ Grade - ISO 9001:2015 Certified)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Saveetha Nagar, Thandalam, Chennai-602 105, TamilNadu, INDIA.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294" lvl="1" marL="742950" marR="0" rtl="0" algn="l">
              <a:lnSpc>
                <a:spcPct val="100000"/>
              </a:lnSpc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5105400"/>
            <a:ext cx="6858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3" name="Google Shape;103;p15"/>
          <p:cNvSpPr txBox="1"/>
          <p:nvPr>
            <p:ph idx="4294967295" type="body"/>
          </p:nvPr>
        </p:nvSpPr>
        <p:spPr>
          <a:xfrm>
            <a:off x="266700" y="1265550"/>
            <a:ext cx="8610600" cy="5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Introduction</a:t>
            </a:r>
            <a:endParaRPr/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Statement of the Problem</a:t>
            </a:r>
            <a:endParaRPr/>
          </a:p>
          <a:p>
            <a:pPr indent="-3663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lphaLcPeriod"/>
            </a:pPr>
            <a:r>
              <a:rPr lang="en-US"/>
              <a:t>&lt;subtitles &gt;</a:t>
            </a:r>
            <a:endParaRPr/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Scope of the project</a:t>
            </a:r>
            <a:endParaRPr/>
          </a:p>
          <a:p>
            <a:pPr indent="-3663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lphaLcPeriod"/>
            </a:pPr>
            <a:r>
              <a:rPr lang="en-US"/>
              <a:t>&lt;subtitles &gt; </a:t>
            </a:r>
            <a:endParaRPr/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Methodology </a:t>
            </a:r>
            <a:endParaRPr/>
          </a:p>
          <a:p>
            <a:pPr indent="-3663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lphaLcPeriod"/>
            </a:pPr>
            <a:r>
              <a:rPr lang="en-US"/>
              <a:t>Architectural Diagram &amp; Flow</a:t>
            </a:r>
            <a:endParaRPr/>
          </a:p>
          <a:p>
            <a:pPr indent="-3663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lphaLcPeriod"/>
            </a:pPr>
            <a:r>
              <a:rPr lang="en-US"/>
              <a:t>Algorithm used</a:t>
            </a:r>
            <a:endParaRPr/>
          </a:p>
          <a:p>
            <a:pPr indent="-3663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lphaLcPeriod"/>
            </a:pPr>
            <a:r>
              <a:rPr lang="en-US"/>
              <a:t>Design - Use Case Diagram, Class Diagram</a:t>
            </a:r>
            <a:endParaRPr/>
          </a:p>
          <a:p>
            <a:pPr indent="-3663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lphaLcPeriod"/>
            </a:pPr>
            <a:r>
              <a:rPr lang="en-US"/>
              <a:t>Implementation</a:t>
            </a:r>
            <a:endParaRPr/>
          </a:p>
          <a:p>
            <a:pPr indent="-3663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lphaLcPeriod"/>
            </a:pPr>
            <a:r>
              <a:rPr lang="en-US"/>
              <a:t>Important code segments</a:t>
            </a:r>
            <a:endParaRPr/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Output, Results</a:t>
            </a:r>
            <a:endParaRPr/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Test Cases</a:t>
            </a:r>
            <a:endParaRPr/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Conclusions</a:t>
            </a:r>
            <a:endParaRPr/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Future work</a:t>
            </a:r>
            <a:endParaRPr/>
          </a:p>
          <a:p>
            <a:pPr indent="-38608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References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9" name="Google Shape;109;p16"/>
          <p:cNvSpPr txBox="1"/>
          <p:nvPr>
            <p:ph idx="4294967295" type="body"/>
          </p:nvPr>
        </p:nvSpPr>
        <p:spPr>
          <a:xfrm>
            <a:off x="204300" y="1194300"/>
            <a:ext cx="8735400" cy="56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5155"/>
              <a:t>Digital Privacy &amp; Security Guardian (DPSG)</a:t>
            </a:r>
            <a:endParaRPr b="1" sz="5155"/>
          </a:p>
          <a:p>
            <a:pPr indent="-40865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5155"/>
              <a:t>The Context:</a:t>
            </a:r>
            <a:r>
              <a:rPr lang="en-US" sz="5155"/>
              <a:t> In the current digital landscape, personal data collection by mobile apps is opaque, continuous, and growing exponentially.</a:t>
            </a:r>
            <a:endParaRPr sz="5155"/>
          </a:p>
          <a:p>
            <a:pPr indent="-4086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5155"/>
              <a:t>The Gap:</a:t>
            </a:r>
            <a:r>
              <a:rPr lang="en-US" sz="5155"/>
              <a:t> Traditional security tools are </a:t>
            </a:r>
            <a:r>
              <a:rPr b="1" lang="en-US" sz="5155"/>
              <a:t>reactive</a:t>
            </a:r>
            <a:r>
              <a:rPr lang="en-US" sz="5155"/>
              <a:t>, focusing only on known viruses/malware after a breach has occurred.</a:t>
            </a:r>
            <a:endParaRPr sz="5155"/>
          </a:p>
          <a:p>
            <a:pPr indent="-4086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5155"/>
              <a:t>The Solution:</a:t>
            </a:r>
            <a:r>
              <a:rPr lang="en-US" sz="5155"/>
              <a:t> DPSG is an </a:t>
            </a:r>
            <a:r>
              <a:rPr b="1" lang="en-US" sz="5155"/>
              <a:t>AI-powered mobile and desktop application</a:t>
            </a:r>
            <a:r>
              <a:rPr lang="en-US" sz="5155"/>
              <a:t> designed for proactive, real-time protection.</a:t>
            </a:r>
            <a:endParaRPr sz="5155"/>
          </a:p>
          <a:p>
            <a:pPr indent="-4086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5155"/>
              <a:t>Core Shift:</a:t>
            </a:r>
            <a:r>
              <a:rPr lang="en-US" sz="5155"/>
              <a:t> Moves beyond anti-malware to </a:t>
            </a:r>
            <a:r>
              <a:rPr b="1" lang="en-US" sz="5155"/>
              <a:t>privacy-first behavioral monitoring</a:t>
            </a:r>
            <a:r>
              <a:rPr lang="en-US" sz="5155"/>
              <a:t> and absolute user control.</a:t>
            </a:r>
            <a:endParaRPr sz="515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Statement of the Problem</a:t>
            </a:r>
            <a:endParaRPr/>
          </a:p>
        </p:txBody>
      </p:sp>
      <p:sp>
        <p:nvSpPr>
          <p:cNvPr id="115" name="Google Shape;115;p17"/>
          <p:cNvSpPr txBox="1"/>
          <p:nvPr>
            <p:ph idx="4294967295" type="body"/>
          </p:nvPr>
        </p:nvSpPr>
        <p:spPr>
          <a:xfrm>
            <a:off x="132625" y="990600"/>
            <a:ext cx="9011400" cy="55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US" sz="2612"/>
              <a:t>The Challenge: Lack of Control &amp; Awareness</a:t>
            </a:r>
            <a:endParaRPr b="1" sz="2612"/>
          </a:p>
          <a:p>
            <a:pPr indent="-39449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613"/>
              <a:buChar char="●"/>
            </a:pPr>
            <a:r>
              <a:rPr b="1" lang="en-US" sz="2612"/>
              <a:t>Information Asymmetry:</a:t>
            </a:r>
            <a:r>
              <a:rPr lang="en-US" sz="2612"/>
              <a:t> Users are often unaware of which apps access sensitive sensors (Mic, Camera, Location) in the background.</a:t>
            </a:r>
            <a:endParaRPr sz="2612"/>
          </a:p>
          <a:p>
            <a:pPr indent="-394493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13"/>
              <a:buChar char="●"/>
            </a:pPr>
            <a:r>
              <a:rPr b="1" lang="en-US" sz="2612"/>
              <a:t>Reactive Legacy Tools:</a:t>
            </a:r>
            <a:r>
              <a:rPr lang="en-US" sz="2612"/>
              <a:t> Existing antivirus solutions fail to detect "grayware"—apps that are technically legal but exploit permissions for tracking or unauthorized data harvesting.</a:t>
            </a:r>
            <a:endParaRPr sz="2612"/>
          </a:p>
          <a:p>
            <a:pPr indent="-3944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13"/>
              <a:buChar char="●"/>
            </a:pPr>
            <a:r>
              <a:rPr b="1" lang="en-US" sz="2612"/>
              <a:t>Privacy Erosion:</a:t>
            </a:r>
            <a:r>
              <a:rPr lang="en-US" sz="2612"/>
              <a:t> Without a baseline for "normal" behavior, subtle privacy breaches and unusual app activities go undetected.</a:t>
            </a:r>
            <a:endParaRPr sz="2612"/>
          </a:p>
          <a:p>
            <a:pPr indent="-3944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13"/>
              <a:buChar char="●"/>
            </a:pPr>
            <a:r>
              <a:rPr b="1" lang="en-US" sz="2612"/>
              <a:t>Objective:</a:t>
            </a:r>
            <a:r>
              <a:rPr lang="en-US" sz="2612"/>
              <a:t> To restore complete visibility and granular control over data access through real-time monitoring and AI-driven anomaly detection.</a:t>
            </a:r>
            <a:endParaRPr sz="2612"/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59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121" name="Google Shape;121;p18"/>
          <p:cNvSpPr txBox="1"/>
          <p:nvPr>
            <p:ph idx="4294967295" type="body"/>
          </p:nvPr>
        </p:nvSpPr>
        <p:spPr>
          <a:xfrm>
            <a:off x="172050" y="990600"/>
            <a:ext cx="8971800" cy="56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/>
              <a:t>Phase 1: Android Security &amp; Privacy</a:t>
            </a:r>
            <a:endParaRPr b="1" sz="2600"/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b="1" lang="en-US" sz="2600"/>
              <a:t>Focus:</a:t>
            </a:r>
            <a:r>
              <a:rPr lang="en-US" sz="2600"/>
              <a:t> Comprehensive design and deployment of core security features on the Android platform.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●"/>
            </a:pPr>
            <a:r>
              <a:rPr b="1" lang="en-US" sz="2600"/>
              <a:t>Key Deliverables:</a:t>
            </a:r>
            <a:endParaRPr b="1"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b="1" lang="en-US" sz="2600"/>
              <a:t>Real-Time Monitoring:</a:t>
            </a:r>
            <a:r>
              <a:rPr lang="en-US" sz="2600"/>
              <a:t> Optimized background services to track sensor usage.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b="1" lang="en-US" sz="2600"/>
              <a:t>Intelligence Layer:</a:t>
            </a:r>
            <a:r>
              <a:rPr lang="en-US" sz="2600"/>
              <a:t> Rule-based and Light ML detection for unusual activity.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b="1" lang="en-US" sz="2600"/>
              <a:t>Unified Dashboard:</a:t>
            </a:r>
            <a:r>
              <a:rPr lang="en-US" sz="2600"/>
              <a:t> A single interface for managing all app permissions.</a:t>
            </a:r>
            <a:endParaRPr sz="2600"/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b="1" lang="en-US" sz="2600"/>
              <a:t>Network Security:</a:t>
            </a:r>
            <a:r>
              <a:rPr lang="en-US" sz="2600"/>
              <a:t> Built-in VPN with DNS-based Ad-Blocking.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127" name="Google Shape;127;p19"/>
          <p:cNvSpPr txBox="1"/>
          <p:nvPr>
            <p:ph idx="4294967295" type="body"/>
          </p:nvPr>
        </p:nvSpPr>
        <p:spPr>
          <a:xfrm>
            <a:off x="228600" y="993125"/>
            <a:ext cx="8784000" cy="57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687"/>
              <a:buFont typeface="Arial"/>
              <a:buNone/>
            </a:pPr>
            <a:r>
              <a:rPr b="1" lang="en-US" sz="3365"/>
              <a:t>Inclusions:</a:t>
            </a:r>
            <a:endParaRPr b="1" sz="3365"/>
          </a:p>
          <a:p>
            <a:pPr indent="-3942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3365"/>
              <a:t>Development of the </a:t>
            </a:r>
            <a:r>
              <a:rPr b="1" lang="en-US" sz="3365"/>
              <a:t>Monitoring Layer</a:t>
            </a:r>
            <a:r>
              <a:rPr lang="en-US" sz="3365"/>
              <a:t> for Camera, Microphone, and Location.</a:t>
            </a:r>
            <a:endParaRPr sz="3365"/>
          </a:p>
          <a:p>
            <a:pPr indent="-3942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365"/>
              <a:t>Implementation of the </a:t>
            </a:r>
            <a:r>
              <a:rPr b="1" lang="en-US" sz="3365"/>
              <a:t>Intelligence Layer</a:t>
            </a:r>
            <a:r>
              <a:rPr lang="en-US" sz="3365"/>
              <a:t> (Rule-Based + Light ML).</a:t>
            </a:r>
            <a:endParaRPr sz="3365"/>
          </a:p>
          <a:p>
            <a:pPr indent="-3942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3365"/>
              <a:t>Network Layer</a:t>
            </a:r>
            <a:r>
              <a:rPr lang="en-US" sz="3365"/>
              <a:t> integration (VPN + Ad-Blocker).</a:t>
            </a:r>
            <a:endParaRPr sz="3365"/>
          </a:p>
          <a:p>
            <a:pPr indent="-3942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365"/>
              <a:t>Automated </a:t>
            </a:r>
            <a:r>
              <a:rPr b="1" lang="en-US" sz="3365"/>
              <a:t>Weekly Privacy/Security Reports</a:t>
            </a:r>
            <a:r>
              <a:rPr lang="en-US" sz="3365"/>
              <a:t>.</a:t>
            </a:r>
            <a:endParaRPr sz="3365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687"/>
              <a:buFont typeface="Arial"/>
              <a:buNone/>
            </a:pPr>
            <a:r>
              <a:rPr b="1" lang="en-US" sz="3365"/>
              <a:t>Exclusions &amp; Future Scope:</a:t>
            </a:r>
            <a:endParaRPr b="1" sz="3365"/>
          </a:p>
          <a:p>
            <a:pPr indent="-3942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365"/>
              <a:t>Complex ML models requiring heavy computation (reserved for Phase 2 to ensure battery efficiency).</a:t>
            </a:r>
            <a:endParaRPr sz="3365"/>
          </a:p>
          <a:p>
            <a:pPr indent="-3942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3365"/>
              <a:t>Full-scale cross-device IoT management (Basic network scan only in Phase 1).</a:t>
            </a:r>
            <a:endParaRPr sz="3365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Methodology</a:t>
            </a:r>
            <a:endParaRPr/>
          </a:p>
        </p:txBody>
      </p:sp>
      <p:sp>
        <p:nvSpPr>
          <p:cNvPr id="133" name="Google Shape;133;p20"/>
          <p:cNvSpPr txBox="1"/>
          <p:nvPr>
            <p:ph idx="4294967295" type="body"/>
          </p:nvPr>
        </p:nvSpPr>
        <p:spPr>
          <a:xfrm>
            <a:off x="202500" y="1140975"/>
            <a:ext cx="8739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/>
              <a:t>How DPSG Works:</a:t>
            </a:r>
            <a:endParaRPr b="1" sz="2800"/>
          </a:p>
          <a:p>
            <a:pPr indent="-406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b="1" lang="en-US" sz="2800"/>
              <a:t>Data Collection (Real-Time Monitoring):</a:t>
            </a:r>
            <a:r>
              <a:rPr lang="en-US" sz="2800"/>
              <a:t> The system deeply integrates with OS APIs to log sensitive app permissions and network activity in real-time.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b="1" lang="en-US" sz="2800"/>
              <a:t>Behavioral Analysis (Intelligence Layer):</a:t>
            </a:r>
            <a:endParaRPr b="1" sz="28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b="1" lang="en-US"/>
              <a:t>Rule-Based:</a:t>
            </a:r>
            <a:r>
              <a:rPr lang="en-US"/>
              <a:t> Immediate detection of known threats.</a:t>
            </a:r>
            <a:endParaRPr/>
          </a:p>
          <a:p>
            <a:pPr indent="-4064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b="1" lang="en-US"/>
              <a:t>Anomaly Detection:</a:t>
            </a:r>
            <a:r>
              <a:rPr lang="en-US"/>
              <a:t> ML models flag unusual behaviors (e.g., a calculator app accessing the microphone).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Methodology</a:t>
            </a:r>
            <a:endParaRPr/>
          </a:p>
        </p:txBody>
      </p:sp>
      <p:sp>
        <p:nvSpPr>
          <p:cNvPr id="139" name="Google Shape;139;p21"/>
          <p:cNvSpPr txBox="1"/>
          <p:nvPr>
            <p:ph idx="4294967295" type="body"/>
          </p:nvPr>
        </p:nvSpPr>
        <p:spPr>
          <a:xfrm>
            <a:off x="282875" y="1524350"/>
            <a:ext cx="8778000" cy="3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3.</a:t>
            </a:r>
            <a:r>
              <a:rPr b="1" lang="en-US" sz="2800"/>
              <a:t>   Network Filtering:</a:t>
            </a:r>
            <a:r>
              <a:rPr lang="en-US" sz="2800"/>
              <a:t> A local VPN tunnel intercepts DNS requests to block trackers and ads before connections are established.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4.   </a:t>
            </a:r>
            <a:r>
              <a:rPr b="1" lang="en-US" sz="2800"/>
              <a:t>Actionable Insight:</a:t>
            </a:r>
            <a:r>
              <a:rPr lang="en-US" sz="2800"/>
              <a:t> Converting logs into simple "Weekly Reports" to educate users and improve digital literacy.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8"/>
              <a:buFont typeface="Calibri"/>
              <a:buNone/>
            </a:pPr>
            <a:r>
              <a:rPr lang="en-US" sz="3759"/>
              <a:t>Architecture Diagram/Flow</a:t>
            </a:r>
            <a:endParaRPr/>
          </a:p>
        </p:txBody>
      </p:sp>
      <p:pic>
        <p:nvPicPr>
          <p:cNvPr id="145" name="Google Shape;145;p22" title="Code_Generated_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106350"/>
            <a:ext cx="8540151" cy="540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alibri"/>
              <a:buNone/>
            </a:pPr>
            <a:r>
              <a:rPr lang="en-US" sz="3759"/>
              <a:t>Architecture Diagram/Flow</a:t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213500" y="1187200"/>
            <a:ext cx="8815200" cy="53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 Description: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Launched: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third-party app initiates a process.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Permission Access: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app requests/uses a sensor (Mic/Camera).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Layer: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Captures the event and logs the usage.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Intelligence Layer: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Analyzes the event against "normal" behavioral baselines.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Suggested Actions: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Accept: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behavior is normal.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Alert: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behavior is anomalous (Push Notification sent)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Design-Use Case Diagram</a:t>
            </a:r>
            <a:endParaRPr/>
          </a:p>
        </p:txBody>
      </p:sp>
      <p:sp>
        <p:nvSpPr>
          <p:cNvPr id="157" name="Google Shape;157;p24"/>
          <p:cNvSpPr txBox="1"/>
          <p:nvPr>
            <p:ph idx="4294967295" type="body"/>
          </p:nvPr>
        </p:nvSpPr>
        <p:spPr>
          <a:xfrm>
            <a:off x="188100" y="1103800"/>
            <a:ext cx="8767800" cy="5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Actor:</a:t>
            </a:r>
            <a:r>
              <a:rPr lang="en-US" sz="2400"/>
              <a:t> User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System:</a:t>
            </a:r>
            <a:r>
              <a:rPr lang="en-US" sz="2400"/>
              <a:t> DPSG Application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Use Cases: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View Dashboard:</a:t>
            </a:r>
            <a:r>
              <a:rPr lang="en-US" sz="2400"/>
              <a:t> User views active permissions (Mic/Cam status).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Manage Permissions:</a:t>
            </a:r>
            <a:r>
              <a:rPr lang="en-US" sz="2400"/>
              <a:t> User revokes/grants app permissions via Unified Dashboard.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Toggle VPN:</a:t>
            </a:r>
            <a:r>
              <a:rPr lang="en-US" sz="2400"/>
              <a:t> User enables/disables Secure Browsing (Ad-Block).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Receive Alert:</a:t>
            </a:r>
            <a:r>
              <a:rPr lang="en-US" sz="2400"/>
              <a:t> User receives Push Notification for suspicious activity.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/>
              <a:t>View Weekly Report:</a:t>
            </a:r>
            <a:r>
              <a:rPr lang="en-US" sz="2400"/>
              <a:t> User reads the educational privacy summary.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Design-Use Case Diagram</a:t>
            </a:r>
            <a:endParaRPr/>
          </a:p>
        </p:txBody>
      </p:sp>
      <p:pic>
        <p:nvPicPr>
          <p:cNvPr id="163" name="Google Shape;163;p25" title="Code_Generated_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9300"/>
            <a:ext cx="8839200" cy="559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Design-Class Diagram</a:t>
            </a:r>
            <a:endParaRPr/>
          </a:p>
        </p:txBody>
      </p:sp>
      <p:sp>
        <p:nvSpPr>
          <p:cNvPr id="169" name="Google Shape;169;p26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Class: DPSG_Main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Methods: initServices(), showDashboard()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Class: MonitoringService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Attributes: activeSensors, appLog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Methods: trackSensorUsage(), logEvent()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Class: IntelligenceEngine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Methods: analyzeBehavior(log), detectAnomaly(), triggerAlert()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Class: NetworkGuard</a:t>
            </a:r>
            <a:r>
              <a:rPr lang="en-US" sz="2000"/>
              <a:t> (VPN)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Attributes: vpnStatus, blockList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Methods: enableVPN(), filterDNS()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Class: ReportGenerator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Methods: generateWeeklySummary(), displayInsights()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Design-Class Diagram</a:t>
            </a:r>
            <a:endParaRPr/>
          </a:p>
        </p:txBody>
      </p:sp>
      <p:pic>
        <p:nvPicPr>
          <p:cNvPr id="175" name="Google Shape;175;p27" title="Code_Generated_Imag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3125"/>
            <a:ext cx="8827701" cy="571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Sequence Diagram</a:t>
            </a:r>
            <a:endParaRPr/>
          </a:p>
        </p:txBody>
      </p:sp>
      <p:pic>
        <p:nvPicPr>
          <p:cNvPr id="181" name="Google Shape;181;p28" title="sequence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0176"/>
            <a:ext cx="8839200" cy="549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Algorithms used</a:t>
            </a:r>
            <a:endParaRPr/>
          </a:p>
        </p:txBody>
      </p:sp>
      <p:sp>
        <p:nvSpPr>
          <p:cNvPr id="187" name="Google Shape;187;p29"/>
          <p:cNvSpPr txBox="1"/>
          <p:nvPr>
            <p:ph idx="4294967295" type="body"/>
          </p:nvPr>
        </p:nvSpPr>
        <p:spPr>
          <a:xfrm>
            <a:off x="172500" y="1318500"/>
            <a:ext cx="8799000" cy="4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5144"/>
              <a:t>Hybrid Intelligence Approach</a:t>
            </a:r>
            <a:endParaRPr b="1" sz="5144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144"/>
          </a:p>
          <a:p>
            <a:pPr indent="-4082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5144"/>
              <a:t>Rule-Based Detection:</a:t>
            </a:r>
            <a:endParaRPr b="1" sz="5144"/>
          </a:p>
          <a:p>
            <a:pPr indent="-40827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-US" sz="5144"/>
              <a:t>Purpose:</a:t>
            </a:r>
            <a:r>
              <a:rPr lang="en-US" sz="5144"/>
              <a:t> Immediate identification of known risks and policy violations.</a:t>
            </a:r>
            <a:endParaRPr sz="5144"/>
          </a:p>
          <a:p>
            <a:pPr indent="-40827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-US" sz="5144"/>
              <a:t>Function:</a:t>
            </a:r>
            <a:r>
              <a:rPr lang="en-US" sz="5144"/>
              <a:t> Checks against a static set of strict privacy rules (e.g., "Block Camera access for App X in background").</a:t>
            </a:r>
            <a:endParaRPr sz="5144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42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Algorithms used</a:t>
            </a:r>
            <a:endParaRPr/>
          </a:p>
        </p:txBody>
      </p:sp>
      <p:sp>
        <p:nvSpPr>
          <p:cNvPr id="193" name="Google Shape;193;p30"/>
          <p:cNvSpPr txBox="1"/>
          <p:nvPr>
            <p:ph idx="4294967295" type="body"/>
          </p:nvPr>
        </p:nvSpPr>
        <p:spPr>
          <a:xfrm>
            <a:off x="172500" y="1287275"/>
            <a:ext cx="8799000" cy="5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7000"/>
              <a:t>2.   </a:t>
            </a:r>
            <a:r>
              <a:rPr b="1" lang="en-US" sz="7000"/>
              <a:t>Light Machine Learning (ML) Anomaly Detection:</a:t>
            </a:r>
            <a:endParaRPr b="1" sz="7000"/>
          </a:p>
          <a:p>
            <a:pPr indent="-4064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b="1" lang="en-US" sz="7000"/>
              <a:t>Purpose:</a:t>
            </a:r>
            <a:r>
              <a:rPr lang="en-US" sz="7000"/>
              <a:t> To identify novel, unknown threats (Zero-day privacy attacks).</a:t>
            </a:r>
            <a:endParaRPr sz="7000"/>
          </a:p>
          <a:p>
            <a:pPr indent="-4064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-US" sz="7000"/>
              <a:t>Function:</a:t>
            </a:r>
            <a:r>
              <a:rPr lang="en-US" sz="7000"/>
              <a:t> Establishes a "normal" behavioral baseline for apps. It scores activity based on deviation. If an app acts "out of character" (statistically significant deviation), it is flagged.</a:t>
            </a:r>
            <a:endParaRPr sz="7000"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-US" sz="7000"/>
              <a:t>Optimization:</a:t>
            </a:r>
            <a:r>
              <a:rPr lang="en-US" sz="7000"/>
              <a:t> Specifically designed as "Light ML" to prioritize low resource consumption and battery life.</a:t>
            </a:r>
            <a:endParaRPr sz="7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99" name="Google Shape;199;p31"/>
          <p:cNvSpPr txBox="1"/>
          <p:nvPr>
            <p:ph idx="4294967295" type="body"/>
          </p:nvPr>
        </p:nvSpPr>
        <p:spPr>
          <a:xfrm>
            <a:off x="196250" y="1249375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/>
              <a:t>Technology Stack &amp; Tools:</a:t>
            </a:r>
            <a:endParaRPr b="1" sz="2800"/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Platform:</a:t>
            </a:r>
            <a:r>
              <a:rPr lang="en-US" sz="2800"/>
              <a:t> Android (Mobile Application).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Monitoring:</a:t>
            </a:r>
            <a:r>
              <a:rPr lang="en-US" sz="2800"/>
              <a:t> Android OS APIs for AccessibilityService and AppOpsManager to track runtime permissions.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Network:</a:t>
            </a:r>
            <a:r>
              <a:rPr lang="en-US" sz="2800"/>
              <a:t> VPN Service using protocols like WireGuard/OpenVPN with local DNS filtering.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Database:</a:t>
            </a:r>
            <a:r>
              <a:rPr lang="en-US" sz="2800"/>
              <a:t> Encrypted local storage (SQLite/Room) to store logs securely and comply with GDPR.</a:t>
            </a:r>
            <a:endParaRPr sz="2800"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-US" sz="2800"/>
              <a:t>Design:</a:t>
            </a:r>
            <a:r>
              <a:rPr lang="en-US" sz="2800"/>
              <a:t> Follows Android Material Design guidelines for the Unified Dashboard.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Important Code segments</a:t>
            </a:r>
            <a:endParaRPr/>
          </a:p>
        </p:txBody>
      </p:sp>
      <p:sp>
        <p:nvSpPr>
          <p:cNvPr id="205" name="Google Shape;205;p32"/>
          <p:cNvSpPr txBox="1"/>
          <p:nvPr>
            <p:ph idx="4294967295" type="body"/>
          </p:nvPr>
        </p:nvSpPr>
        <p:spPr>
          <a:xfrm>
            <a:off x="228600" y="990600"/>
            <a:ext cx="8610600" cy="4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5120"/>
              <a:buNone/>
            </a:pPr>
            <a:r>
              <a:t/>
            </a:r>
            <a:endParaRPr b="1" sz="2800"/>
          </a:p>
          <a:p>
            <a:pPr indent="0" lvl="0" marL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5120"/>
              <a:buNone/>
            </a:pPr>
            <a:r>
              <a:rPr b="1" lang="en-US" sz="2800"/>
              <a:t>1. Sensor Monitoring Logic:</a:t>
            </a:r>
            <a:endParaRPr b="1" sz="2800"/>
          </a:p>
          <a:p>
            <a:pPr indent="0" lvl="0" marL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5120"/>
              <a:buNone/>
            </a:pPr>
            <a:r>
              <a:t/>
            </a:r>
            <a:endParaRPr b="1" sz="2800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Logic for Real-Time Monitoring Layer [cite: 349, 443]</a:t>
            </a:r>
            <a:endParaRPr sz="2000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def monitor_sensor_usage():</a:t>
            </a:r>
            <a:endParaRPr sz="2000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active_apps = get_running_processes()</a:t>
            </a:r>
            <a:endParaRPr sz="2000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for app in active_apps:</a:t>
            </a:r>
            <a:endParaRPr sz="2000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# Check if Mic or Camera is currently in use</a:t>
            </a:r>
            <a:endParaRPr sz="2000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if app.is_using_permission(MIC) or app.is_using_permission(CAMERA):</a:t>
            </a:r>
            <a:endParaRPr sz="2000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    log_event(app.name, "SENSOR_ACCESS", timestamp)</a:t>
            </a:r>
            <a:endParaRPr sz="2000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    # Send to Intelligence Layer</a:t>
            </a:r>
            <a:endParaRPr sz="2000"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    analyze_behavior(app.name, "SENSOR_ACCESS")</a:t>
            </a:r>
            <a:endParaRPr sz="2000"/>
          </a:p>
          <a:p>
            <a:pPr indent="0" lvl="0" marL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5120"/>
              <a:buNone/>
            </a:pPr>
            <a:r>
              <a:t/>
            </a:r>
            <a:endParaRPr b="1"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Important Code segments</a:t>
            </a:r>
            <a:endParaRPr/>
          </a:p>
        </p:txBody>
      </p:sp>
      <p:sp>
        <p:nvSpPr>
          <p:cNvPr id="211" name="Google Shape;211;p33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2800"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2800"/>
              <a:t>2. Anomaly Detection Logic:</a:t>
            </a:r>
            <a:endParaRPr b="1" sz="2800"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2800"/>
          </a:p>
          <a:p>
            <a:pPr indent="0" lvl="0" marL="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# Logic for Intelligence Layer (Light ML) [cite: 350, 401]</a:t>
            </a:r>
            <a:endParaRPr sz="2000"/>
          </a:p>
          <a:p>
            <a:pPr indent="0" lvl="0" marL="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def analyze_behavior(app_name, action):</a:t>
            </a:r>
            <a:endParaRPr sz="2000"/>
          </a:p>
          <a:p>
            <a:pPr indent="0" lvl="0" marL="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baseline = load_app_baseline(app_name)</a:t>
            </a:r>
            <a:endParaRPr sz="2000"/>
          </a:p>
          <a:p>
            <a:pPr indent="0" lvl="0" marL="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deviation_score = calculate_deviation(action, baseline)</a:t>
            </a:r>
            <a:endParaRPr sz="2000"/>
          </a:p>
          <a:p>
            <a:pPr indent="0" lvl="0" marL="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# Threshold for anomaly (e.g. infrequently used app accessing Mic)</a:t>
            </a:r>
            <a:endParaRPr sz="2000"/>
          </a:p>
          <a:p>
            <a:pPr indent="0" lvl="0" marL="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if deviation_score &gt; ANOMALY_THRESHOLD:</a:t>
            </a:r>
            <a:endParaRPr sz="2000"/>
          </a:p>
          <a:p>
            <a:pPr indent="0" lvl="0" marL="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        trigger_alert("Suspicious behavior detected: " + app_name)</a:t>
            </a:r>
            <a:endParaRPr sz="2000"/>
          </a:p>
          <a:p>
            <a:pPr indent="0" lvl="0" marL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Output</a:t>
            </a:r>
            <a:endParaRPr/>
          </a:p>
        </p:txBody>
      </p:sp>
      <p:sp>
        <p:nvSpPr>
          <p:cNvPr id="217" name="Google Shape;217;p34"/>
          <p:cNvSpPr txBox="1"/>
          <p:nvPr>
            <p:ph idx="4294967295" type="body"/>
          </p:nvPr>
        </p:nvSpPr>
        <p:spPr>
          <a:xfrm>
            <a:off x="228600" y="990600"/>
            <a:ext cx="8784000" cy="54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Expected User Interface Outputs: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b="1" lang="en-US" sz="2400"/>
              <a:t>Unified Dashboard:</a:t>
            </a:r>
            <a:endParaRPr b="1"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/>
              <a:t>A clean interface showing exactly which apps are currently using the Microphone or Camera.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/>
              <a:t>One-click toggle to revoke permissions for specific apps.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b="1" lang="en-US" sz="2400"/>
              <a:t>Alert System:</a:t>
            </a:r>
            <a:endParaRPr b="1"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1" lang="en-US" sz="2400"/>
              <a:t>Input:</a:t>
            </a:r>
            <a:r>
              <a:rPr lang="en-US" sz="2400"/>
              <a:t> "Calculator" app attempts to access the Microphone in the background.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1" lang="en-US" sz="2400"/>
              <a:t>Output:</a:t>
            </a:r>
            <a:r>
              <a:rPr lang="en-US" sz="2400"/>
              <a:t> Immediate Push Notification: "Alert: Calculator is using Microphone unexpectedly. Block now?".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b="1" lang="en-US" sz="2400"/>
              <a:t>Weekly Report:</a:t>
            </a:r>
            <a:endParaRPr b="1"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/>
              <a:t>A structured summary card showing: "50 Apps tracked," "3 Anomalies blocked," "Privacy Score: High".</a:t>
            </a:r>
            <a:endParaRPr sz="24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Output</a:t>
            </a:r>
            <a:endParaRPr/>
          </a:p>
        </p:txBody>
      </p:sp>
      <p:pic>
        <p:nvPicPr>
          <p:cNvPr id="223" name="Google Shape;223;p35" title="WhatsApp Image 2025-11-29 at 20.26.4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00" y="1018425"/>
            <a:ext cx="3302275" cy="543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1525" y="1113775"/>
            <a:ext cx="3106025" cy="534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Output</a:t>
            </a:r>
            <a:endParaRPr/>
          </a:p>
        </p:txBody>
      </p:sp>
      <p:pic>
        <p:nvPicPr>
          <p:cNvPr id="230" name="Google Shape;230;p36" title="WhatsApp Image 2025-11-29 at 20.26.4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450" y="1066950"/>
            <a:ext cx="3488975" cy="56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9850" y="1066950"/>
            <a:ext cx="3488975" cy="56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Test Cases</a:t>
            </a:r>
            <a:endParaRPr/>
          </a:p>
        </p:txBody>
      </p:sp>
      <p:sp>
        <p:nvSpPr>
          <p:cNvPr id="237" name="Google Shape;237;p37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Test Cases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8" name="Google Shape;238;p37"/>
          <p:cNvGraphicFramePr/>
          <p:nvPr/>
        </p:nvGraphicFramePr>
        <p:xfrm>
          <a:off x="326650" y="16805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{A0F095FD-EDBD-4191-B52B-8100216E512F}</a:tableStyleId>
              </a:tblPr>
              <a:tblGrid>
                <a:gridCol w="517925"/>
                <a:gridCol w="2142575"/>
                <a:gridCol w="1769800"/>
                <a:gridCol w="1572100"/>
                <a:gridCol w="1077575"/>
                <a:gridCol w="1432600"/>
              </a:tblGrid>
              <a:tr h="45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S.NO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Action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Input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Expected output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Actual output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Test Result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1</a:t>
                      </a:r>
                      <a:endParaRPr sz="900" u="none" cap="none" strike="noStrike"/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Test Case 1:</a:t>
                      </a:r>
                      <a:r>
                        <a:rPr lang="en-US" sz="900"/>
                        <a:t> Check Active Sensor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Input: </a:t>
                      </a:r>
                      <a:r>
                        <a:rPr lang="en-US" sz="900"/>
                        <a:t>Open a Voice Recorder app.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Expected Output: </a:t>
                      </a:r>
                      <a:r>
                        <a:rPr lang="en-US" sz="900"/>
                        <a:t>Dashboard displays "Recorder is using Microphone" in real-time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Actual Output:</a:t>
                      </a:r>
                      <a:r>
                        <a:rPr lang="en-US" sz="900"/>
                        <a:t> Same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Result: Pass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2</a:t>
                      </a:r>
                      <a:endParaRPr sz="900" u="none" cap="none" strike="noStrike"/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Test Case 2:</a:t>
                      </a:r>
                      <a:r>
                        <a:rPr lang="en-US" sz="900"/>
                        <a:t> Anomaly Alert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Input: </a:t>
                      </a:r>
                      <a:r>
                        <a:rPr lang="en-US" sz="900"/>
                        <a:t>A background app (e.g., Notepad) tries to access Camera.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Expected Output: </a:t>
                      </a:r>
                      <a:r>
                        <a:rPr lang="en-US" sz="900"/>
                        <a:t>System triggers a "Suspicious Activity" Push Notification immediately.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Actual Output:</a:t>
                      </a:r>
                      <a:r>
                        <a:rPr lang="en-US" sz="900"/>
                        <a:t> Same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Result: Pass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4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3</a:t>
                      </a:r>
                      <a:endParaRPr sz="900" u="none" cap="none" strike="noStrike"/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Test Case 3: </a:t>
                      </a:r>
                      <a:r>
                        <a:rPr lang="en-US" sz="900"/>
                        <a:t>VPN Toggle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Input: </a:t>
                      </a:r>
                      <a:r>
                        <a:rPr lang="en-US" sz="900"/>
                        <a:t>User clicks "Enable Protection" on Dashboard.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Expected Output: 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VPN icon appears in status bar; Ads/Trackers are blocked in browser.</a:t>
                      </a:r>
                      <a:endParaRPr sz="9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Actual Output:</a:t>
                      </a:r>
                      <a:r>
                        <a:rPr lang="en-US" sz="900"/>
                        <a:t> Same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Result: Pass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4</a:t>
                      </a:r>
                      <a:endParaRPr sz="900" u="none" cap="none" strike="noStrike"/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Test Case 4: </a:t>
                      </a:r>
                      <a:r>
                        <a:rPr lang="en-US" sz="900"/>
                        <a:t>Permission Audit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Input:</a:t>
                      </a:r>
                      <a:r>
                        <a:rPr lang="en-US" sz="900"/>
                        <a:t> User opens Unified Dashboard.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Expected Output: </a:t>
                      </a:r>
                      <a:r>
                        <a:rPr lang="en-US" sz="900"/>
                        <a:t>List of all apps with sensitive permissions is displayed clearly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Actual Output:</a:t>
                      </a:r>
                      <a:r>
                        <a:rPr lang="en-US" sz="900"/>
                        <a:t> Same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Result: Pass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3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68575" marL="68575" anchor="b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Test Case 5:</a:t>
                      </a:r>
                      <a:r>
                        <a:rPr lang="en-US" sz="900"/>
                        <a:t> Report Generation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Input</a:t>
                      </a:r>
                      <a:r>
                        <a:rPr lang="en-US" sz="900"/>
                        <a:t>: End of week cycle.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Expected Output: </a:t>
                      </a:r>
                      <a:r>
                        <a:rPr lang="en-US" sz="900"/>
                        <a:t>"Weekly Privacy Report" is generated and notifies the user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Actual Output:</a:t>
                      </a:r>
                      <a:r>
                        <a:rPr lang="en-US" sz="900"/>
                        <a:t> Same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Result: Pass</a:t>
                      </a:r>
                      <a:endParaRPr sz="9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244" name="Google Shape;244;p38"/>
          <p:cNvSpPr txBox="1"/>
          <p:nvPr>
            <p:ph idx="4294967295" type="body"/>
          </p:nvPr>
        </p:nvSpPr>
        <p:spPr>
          <a:xfrm>
            <a:off x="228600" y="990600"/>
            <a:ext cx="8753100" cy="56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25497"/>
              <a:buFont typeface="Arial"/>
              <a:buNone/>
            </a:pPr>
            <a:r>
              <a:rPr b="1" lang="en-US" sz="4314"/>
              <a:t>Key Performance Indicators (KPIs):</a:t>
            </a:r>
            <a:endParaRPr b="1" sz="4314"/>
          </a:p>
          <a:p>
            <a:pPr indent="-35872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4314"/>
              <a:t>False Positive Rate (FPR):</a:t>
            </a:r>
            <a:r>
              <a:rPr lang="en-US" sz="4314"/>
              <a:t> </a:t>
            </a:r>
            <a:r>
              <a:rPr b="1" lang="en-US" sz="4314"/>
              <a:t>&lt; 5%</a:t>
            </a:r>
            <a:endParaRPr b="1" sz="4314"/>
          </a:p>
          <a:p>
            <a:pPr indent="-35872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i="1" lang="en-US" sz="4314"/>
              <a:t>Goal:</a:t>
            </a:r>
            <a:r>
              <a:rPr lang="en-US" sz="4314"/>
              <a:t> To ensure alerts are accurate and prevent user "alert fatigue".</a:t>
            </a:r>
            <a:endParaRPr sz="4314"/>
          </a:p>
          <a:p>
            <a:pPr indent="-35872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4314"/>
              <a:t>System Uptime:</a:t>
            </a:r>
            <a:r>
              <a:rPr lang="en-US" sz="4314"/>
              <a:t> </a:t>
            </a:r>
            <a:r>
              <a:rPr b="1" lang="en-US" sz="4314"/>
              <a:t>99.9%</a:t>
            </a:r>
            <a:endParaRPr b="1" sz="4314"/>
          </a:p>
          <a:p>
            <a:pPr indent="-35872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i="1" lang="en-US" sz="4314"/>
              <a:t>Goal:</a:t>
            </a:r>
            <a:r>
              <a:rPr lang="en-US" sz="4314"/>
              <a:t> Continuous background monitoring to ensure no gaps in privacy protection.</a:t>
            </a:r>
            <a:endParaRPr sz="4314"/>
          </a:p>
          <a:p>
            <a:pPr indent="-35872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4314"/>
              <a:t>Blocking Efficiency:</a:t>
            </a:r>
            <a:r>
              <a:rPr lang="en-US" sz="4314"/>
              <a:t> </a:t>
            </a:r>
            <a:r>
              <a:rPr b="1" lang="en-US" sz="4314"/>
              <a:t>High (Zero Latency)</a:t>
            </a:r>
            <a:endParaRPr b="1" sz="4314"/>
          </a:p>
          <a:p>
            <a:pPr indent="-35872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i="1" lang="en-US" sz="4314"/>
              <a:t>Goal:</a:t>
            </a:r>
            <a:r>
              <a:rPr lang="en-US" sz="4314"/>
              <a:t> The local DNS-based blocking ensures ads/trackers are stopped before the connection leaves the device, improving page load speeds.</a:t>
            </a:r>
            <a:endParaRPr sz="4314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497"/>
              <a:buFont typeface="Arial"/>
              <a:buNone/>
            </a:pPr>
            <a:r>
              <a:rPr b="1" lang="en-US" sz="4314"/>
              <a:t>Inferences:</a:t>
            </a:r>
            <a:endParaRPr b="1" sz="4314"/>
          </a:p>
          <a:p>
            <a:pPr indent="-35872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4314"/>
              <a:t>Battery Impact:</a:t>
            </a:r>
            <a:r>
              <a:rPr lang="en-US" sz="4314"/>
              <a:t> The "Light ML" approach ensures the app runs effectively in the background without draining the battery.</a:t>
            </a:r>
            <a:endParaRPr sz="4314"/>
          </a:p>
          <a:p>
            <a:pPr indent="-35872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4314"/>
              <a:t>Privacy Control:</a:t>
            </a:r>
            <a:r>
              <a:rPr lang="en-US" sz="4314"/>
              <a:t> The shift from reactive scanning to </a:t>
            </a:r>
            <a:r>
              <a:rPr b="1" lang="en-US" sz="4314"/>
              <a:t>real-time behavioral monitoring</a:t>
            </a:r>
            <a:r>
              <a:rPr lang="en-US" sz="4314"/>
              <a:t> provides immediate visibility into invisible app activities.</a:t>
            </a:r>
            <a:endParaRPr sz="4314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50" name="Google Shape;250;p39"/>
          <p:cNvSpPr txBox="1"/>
          <p:nvPr>
            <p:ph idx="4294967295" type="body"/>
          </p:nvPr>
        </p:nvSpPr>
        <p:spPr>
          <a:xfrm>
            <a:off x="266700" y="1412200"/>
            <a:ext cx="86106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 sz="2800"/>
              <a:t>Proactive Protection:</a:t>
            </a:r>
            <a:r>
              <a:rPr lang="en-US" sz="2800"/>
              <a:t> DPSG successfully bridges the gap between passive device security and the user's need for total digital control.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 sz="2800"/>
              <a:t>Empowerment:</a:t>
            </a:r>
            <a:r>
              <a:rPr lang="en-US" sz="2800"/>
              <a:t> By centralizing controls and providing educational reports, the system transforms users from passive targets into informed privacy managers.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 sz="2800"/>
              <a:t>SDG Alignment:</a:t>
            </a:r>
            <a:r>
              <a:rPr lang="en-US" sz="2800"/>
              <a:t> The project aligns with </a:t>
            </a:r>
            <a:r>
              <a:rPr b="1" lang="en-US" sz="2800"/>
              <a:t>SDG 9</a:t>
            </a:r>
            <a:r>
              <a:rPr lang="en-US" sz="2800"/>
              <a:t> (Innovation) and </a:t>
            </a:r>
            <a:r>
              <a:rPr b="1" lang="en-US" sz="2800"/>
              <a:t>SDG 16</a:t>
            </a:r>
            <a:r>
              <a:rPr lang="en-US" sz="2800"/>
              <a:t> (Strong Institutions/Privacy).</a:t>
            </a:r>
            <a:endParaRPr sz="28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256" name="Google Shape;256;p40"/>
          <p:cNvSpPr txBox="1"/>
          <p:nvPr>
            <p:ph idx="4294967295" type="body"/>
          </p:nvPr>
        </p:nvSpPr>
        <p:spPr>
          <a:xfrm>
            <a:off x="266700" y="1568325"/>
            <a:ext cx="8610600" cy="4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 sz="2800"/>
              <a:t>IoT Ecosystem:</a:t>
            </a:r>
            <a:r>
              <a:rPr lang="en-US" sz="2800"/>
              <a:t> Expansion of the monitoring capabilities to cover connected IoT devices within the user's local network.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 sz="2800"/>
              <a:t>Advanced ML Models:</a:t>
            </a:r>
            <a:r>
              <a:rPr lang="en-US" sz="2800"/>
              <a:t> Integration of more complex Machine Learning models for deeper behavioral analysis as device hardware capabilities increase.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 sz="2800"/>
              <a:t>Cross-Platform:</a:t>
            </a:r>
            <a:r>
              <a:rPr lang="en-US" sz="2800"/>
              <a:t> Extending the DPSG architecture to support iOS and Desktop environments for a unified cross-device experience.</a:t>
            </a:r>
            <a:endParaRPr sz="28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62" name="Google Shape;262;p41"/>
          <p:cNvSpPr txBox="1"/>
          <p:nvPr>
            <p:ph idx="4294967295" type="body"/>
          </p:nvPr>
        </p:nvSpPr>
        <p:spPr>
          <a:xfrm>
            <a:off x="228600" y="990600"/>
            <a:ext cx="8768700" cy="53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A. Sharma and S. Gupta, “</a:t>
            </a:r>
            <a:r>
              <a:rPr b="1" lang="en-US" sz="2800"/>
              <a:t>Machine Learning for Runtime Permission Monitoring in Android Applications</a:t>
            </a:r>
            <a:r>
              <a:rPr lang="en-US" sz="2800"/>
              <a:t>,” </a:t>
            </a:r>
            <a:r>
              <a:rPr i="1" lang="en-US" sz="2800"/>
              <a:t>International Journal of Computer Applications</a:t>
            </a:r>
            <a:r>
              <a:rPr lang="en-US" sz="2800"/>
              <a:t>, 2023.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M. Chen and R. Kumar, “</a:t>
            </a:r>
            <a:r>
              <a:rPr b="1" lang="en-US" sz="2800"/>
              <a:t>A Novel Approach to DNS-based Tracking Prevention in Mobile VPN Architectures</a:t>
            </a:r>
            <a:r>
              <a:rPr lang="en-US" sz="2800"/>
              <a:t>,” </a:t>
            </a:r>
            <a:r>
              <a:rPr i="1" lang="en-US" sz="2800"/>
              <a:t>International Journal of Emerging Technologies</a:t>
            </a:r>
            <a:r>
              <a:rPr lang="en-US" sz="2800"/>
              <a:t>, 2022.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Y. Li and K. Das, “</a:t>
            </a:r>
            <a:r>
              <a:rPr b="1" lang="en-US" sz="2800"/>
              <a:t>Empowering Users: A Review of Privacy-Enhancing Technologies in Mobile Operating Systems</a:t>
            </a:r>
            <a:r>
              <a:rPr lang="en-US" sz="2800"/>
              <a:t>,” </a:t>
            </a:r>
            <a:r>
              <a:rPr i="1" lang="en-US" sz="2800"/>
              <a:t>IEEE Access</a:t>
            </a:r>
            <a:r>
              <a:rPr lang="en-US" sz="2800"/>
              <a:t>, 2022.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Android Design Guidelines:</a:t>
            </a:r>
            <a:r>
              <a:rPr lang="en-US" sz="2800">
                <a:uFill>
                  <a:noFill/>
                </a:uFill>
                <a:hlinkClick r:id="rId3"/>
              </a:rPr>
              <a:t> </a:t>
            </a:r>
            <a:r>
              <a:rPr lang="en-US" sz="2800" u="sng">
                <a:solidFill>
                  <a:schemeClr val="hlink"/>
                </a:solidFill>
                <a:hlinkClick r:id="rId4"/>
              </a:rPr>
              <a:t>https://www.developer.android.com/design</a:t>
            </a:r>
            <a:r>
              <a:rPr lang="en-US" sz="2800"/>
              <a:t>.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u="sng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Questions</a:t>
            </a:r>
            <a:endParaRPr/>
          </a:p>
        </p:txBody>
      </p:sp>
      <p:pic>
        <p:nvPicPr>
          <p:cNvPr id="268" name="Google Shape;26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2925" y="2292525"/>
            <a:ext cx="3753125" cy="24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